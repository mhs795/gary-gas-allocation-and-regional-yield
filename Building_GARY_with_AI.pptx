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73152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1B9AAA"/>
                </a:solidFill>
                <a:latin typeface="Calibri"/>
              </a:rPr>
              <a:t>GAS ALLOCATION &amp; REGIONAL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Building GARY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0">
                <a:solidFill>
                  <a:srgbClr val="C9D9E6"/>
                </a:solidFill>
                <a:latin typeface="Calibri"/>
              </a:rPr>
              <a:t>A least-cost model of the Eastern Australian gas market — built with an AI coding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9FB4C6"/>
                </a:solidFill>
                <a:latin typeface="Calibri"/>
              </a:rPr>
              <a:t>Eastern Australian gas market   ·   2025–2050   ·   nodal linear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7F95A8"/>
                </a:solidFill>
                <a:latin typeface="Calibri"/>
              </a:rPr>
              <a:t>Presentation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GARY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0">
                <a:solidFill>
                  <a:srgbClr val="1F2A37"/>
                </a:solidFill>
                <a:latin typeface="Calibri"/>
              </a:rPr>
              <a:t>A nodal, least-cost optimisation of the Eastern Australian gas market that decides — for every day of every year to 2050 — where gas is produced, how it flows through the pipeline network, and what it costs at each hub.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3611880" cy="173736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82296" cy="173736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B2A4A"/>
                </a:solidFill>
                <a:latin typeface="Calibri"/>
              </a:rPr>
              <a:t>14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Producers, demand hubs, LNG trains and storages from Queensland to Tasmania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2651760"/>
            <a:ext cx="3611880" cy="173736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6824" y="2651760"/>
            <a:ext cx="82296" cy="173736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816352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B2A4A"/>
                </a:solidFill>
                <a:latin typeface="Calibri"/>
              </a:rPr>
              <a:t>365 days × 26 yrs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4290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Daily resolution, solved year-by-year from 2025 to 2050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2651760"/>
            <a:ext cx="3611880" cy="173736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2651760"/>
            <a:ext cx="82296" cy="173736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816352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B2A4A"/>
                </a:solidFill>
                <a:latin typeface="Calibri"/>
              </a:rPr>
              <a:t>27 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4290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AEMO demand future × winter × LNG, pre-solved for instant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It answers questions a spreadsheet can't: if winter demand in the south-east is lower, how much does the winter price spike shrink? If demand runs hot, which pipeline fills the gap — and what new infrastructure must be built?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B9AAA"/>
                </a:solidFill>
                <a:latin typeface="Calibri"/>
              </a:rPr>
              <a:t>Python + Pyomo  ·  HiGHS solver  ·  interactive Dash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How the optimisation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B2A4A"/>
                </a:solidFill>
                <a:latin typeface="Calibri"/>
              </a:rPr>
              <a:t>Minimise total system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Production cost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Pipeline transport cost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Storage injection / withdrawal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Network expansion capital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Penalty on any shortage or curtailment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B2A4A"/>
                </a:solidFill>
                <a:latin typeface="Calibri"/>
              </a:rPr>
              <a:t>Subject to physical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Supply &amp; pipeline capacity caps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Storage continuity day-to-day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Nodal mass balance — supply in = demand out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Binary build decisions for expansions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257800" cy="48920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257800" cy="5029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Decision variables the solver 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Production:  </a:t>
            </a:r>
            <a:r>
              <a:rPr sz="1500">
                <a:solidFill>
                  <a:srgbClr val="1F2A37"/>
                </a:solidFill>
                <a:latin typeface="Calibri"/>
              </a:rPr>
              <a:t>at each supply source, each day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Flow:  </a:t>
            </a:r>
            <a:r>
              <a:rPr sz="1500">
                <a:solidFill>
                  <a:srgbClr val="1F2A37"/>
                </a:solidFill>
                <a:latin typeface="Calibri"/>
              </a:rPr>
              <a:t>along every pipeline arc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Storage:  </a:t>
            </a:r>
            <a:r>
              <a:rPr sz="1500">
                <a:solidFill>
                  <a:srgbClr val="1F2A37"/>
                </a:solidFill>
                <a:latin typeface="Calibri"/>
              </a:rPr>
              <a:t>inventory, injection, withdrawal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Curtailment:  </a:t>
            </a:r>
            <a:r>
              <a:rPr sz="1500">
                <a:solidFill>
                  <a:srgbClr val="1F2A37"/>
                </a:solidFill>
                <a:latin typeface="Calibri"/>
              </a:rPr>
              <a:t>gas-power &amp; industrial load shed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Build:  </a:t>
            </a:r>
            <a:r>
              <a:rPr sz="1500">
                <a:solidFill>
                  <a:srgbClr val="1F2A37"/>
                </a:solidFill>
                <a:latin typeface="Calibri"/>
              </a:rPr>
              <a:t>which network expansions to fund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Prices:  </a:t>
            </a:r>
            <a:r>
              <a:rPr sz="1500">
                <a:solidFill>
                  <a:srgbClr val="1F2A37"/>
                </a:solidFill>
                <a:latin typeface="Calibri"/>
              </a:rPr>
              <a:t>recovered as nodal shadow prices (duals)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network GARY optimises</a:t>
            </a:r>
          </a:p>
        </p:txBody>
      </p:sp>
      <p:pic>
        <p:nvPicPr>
          <p:cNvPr id="6" name="Picture 5" descr="c0_networ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025221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0" y="1691640"/>
            <a:ext cx="4892040" cy="4480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874519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Reading the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37744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Real pipeline routes traced from OpenStreetMap geometry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Nodes coloured by role — supply, hub, demand, LNG, storage, import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Line thickness &amp; colour = utilisation (flow ÷ capacity) in 2035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Queensland supply → LNG export; southern lines carry winter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Grounded in AEMO's official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Central case re-based on the AEMO 2026 GSOO:  </a:t>
            </a:r>
            <a:r>
              <a:rPr sz="1500">
                <a:solidFill>
                  <a:srgbClr val="1F2A37"/>
                </a:solidFill>
                <a:latin typeface="Calibri"/>
              </a:rPr>
              <a:t>the gas-regionalised forecast the final 2026 ISP defers to for gas demand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Every demand sector rebuilt:  </a:t>
            </a:r>
            <a:r>
              <a:rPr sz="1500">
                <a:solidFill>
                  <a:srgbClr val="1F2A37"/>
                </a:solidFill>
                <a:latin typeface="Calibri"/>
              </a:rPr>
              <a:t>gas-power, industrial, residential/commercial and LNG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Annual levels anchored to GSOO:  </a:t>
            </a:r>
            <a:r>
              <a:rPr sz="1500">
                <a:solidFill>
                  <a:srgbClr val="1F2A37"/>
                </a:solidFill>
                <a:latin typeface="Calibri"/>
              </a:rPr>
              <a:t>while the empirical daily shape — winter peaks, facility detail — is preserved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Fully deterministic &amp; reproducible:  </a:t>
            </a:r>
            <a:r>
              <a:rPr sz="1500">
                <a:solidFill>
                  <a:srgbClr val="1F2A37"/>
                </a:solidFill>
                <a:latin typeface="Calibri"/>
              </a:rPr>
              <a:t>arbitrary growth-rate assumptions removed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91640"/>
            <a:ext cx="5257800" cy="44805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91640"/>
            <a:ext cx="5257800" cy="50292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6479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One button rebuilds everything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23160"/>
            <a:ext cx="4709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Extractors read the GSOO workbooks into clean CSVs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"Regenerate All Data" rebuilds every input from source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"Run All Scenarios" re-solves all 27 cases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Clone → click two buttons → full model stands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257800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5B6B7B"/>
                </a:solidFill>
                <a:latin typeface="Calibri"/>
              </a:rPr>
              <a:t>Only source inputs are version-controlled; generated data is rebuilt, never committed.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Three AEMO futures, stress-tested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1F2A37"/>
                </a:solidFill>
                <a:latin typeface="Calibri"/>
              </a:rPr>
              <a:t>The central axis is AEMO's three 2026 GSOO demand scenarios; each is then stress-tested across winter and LNG demand.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3611880" cy="196596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3611880" cy="65836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048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Step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08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CENTRAL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47472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Rapid, coordinated energy transition — the reference future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2331720"/>
            <a:ext cx="3611880" cy="196596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2331720"/>
            <a:ext cx="3611880" cy="65836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4048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Accelerated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108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FASTEST TRANSITION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47472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Strongest electrification &amp; decarbonisation; gas backed out sooner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2331720"/>
            <a:ext cx="3611880" cy="196596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2331720"/>
            <a:ext cx="3611880" cy="65836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240487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Slower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108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LAGGARD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47472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>
                <a:solidFill>
                  <a:srgbClr val="5B6B7B"/>
                </a:solidFill>
                <a:latin typeface="Calibri"/>
              </a:rPr>
              <a:t>Weaker growth and a slower transition; gas lingers longer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B2A4A"/>
                </a:solidFill>
                <a:latin typeface="Calibri"/>
              </a:rPr>
              <a:t>Stress levers applied to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Winter demand — Low / Medium / High:  </a:t>
            </a:r>
            <a:r>
              <a:rPr sz="1500">
                <a:solidFill>
                  <a:srgbClr val="1F2A37"/>
                </a:solidFill>
                <a:latin typeface="Calibri"/>
              </a:rPr>
              <a:t>severity of the southern winter peak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LNG demand — Low / Medium / High:  </a:t>
            </a:r>
            <a:r>
              <a:rPr sz="1500">
                <a:solidFill>
                  <a:srgbClr val="1F2A37"/>
                </a:solidFill>
                <a:latin typeface="Calibri"/>
              </a:rPr>
              <a:t>Gladstone export pull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 b="1">
                <a:solidFill>
                  <a:srgbClr val="1F2A37"/>
                </a:solidFill>
                <a:latin typeface="Calibri"/>
              </a:rPr>
              <a:t>ADGSM on / off:  </a:t>
            </a:r>
            <a:r>
              <a:rPr sz="1500">
                <a:solidFill>
                  <a:srgbClr val="1F2A37"/>
                </a:solidFill>
                <a:latin typeface="Calibri"/>
              </a:rPr>
              <a:t>the domestic gas security (export-trigger) mechanism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How it was built — with an AI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97480" cy="338328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9748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B9AA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A4A"/>
                </a:solidFill>
                <a:latin typeface="Calibri"/>
              </a:rPr>
              <a:t>Describe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B6B7B"/>
                </a:solidFill>
                <a:latin typeface="Calibri"/>
              </a:rPr>
              <a:t>Plain-English goals — "re-base demand on the GSOO, keep the daily shape" — not line-by-line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828800"/>
            <a:ext cx="2697480" cy="338328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828800"/>
            <a:ext cx="269748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901952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B9AA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7889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A4A"/>
                </a:solidFill>
                <a:latin typeface="Calibri"/>
              </a:rPr>
              <a:t>AI drafts &amp; wires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5204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B6B7B"/>
                </a:solidFill>
                <a:latin typeface="Calibri"/>
              </a:rPr>
              <a:t>The assistant wrote the extractors, LP model, scenario batch and dashboard, and connected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828800"/>
            <a:ext cx="2697480" cy="338328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828800"/>
            <a:ext cx="269748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901952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B9AA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7889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A4A"/>
                </a:solidFill>
                <a:latin typeface="Calibri"/>
              </a:rPr>
              <a:t>Run · inspect ·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5204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B6B7B"/>
                </a:solidFill>
                <a:latin typeface="Calibri"/>
              </a:rPr>
              <a:t>Solve, read real outputs together, catch issues (e.g. Yarwun misclassified), refine in the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1828800"/>
            <a:ext cx="2697480" cy="338328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7696" y="1828800"/>
            <a:ext cx="2697480" cy="8229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1901952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B9AAA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78892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A4A"/>
                </a:solidFill>
                <a:latin typeface="Calibri"/>
              </a:rPr>
              <a:t>Automate &amp;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52044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B6B7B"/>
                </a:solidFill>
                <a:latin typeface="Calibri"/>
              </a:rPr>
              <a:t>One-button regeneration, HiGHS solver swap, generated data gitignored, docs auto-written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The workflow was conversational and iterative — I stayed the domain expert deciding what was right; the AI did the engineering and kept the whole pipeline reproducible.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the AI did vs. what I did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486400" cy="54864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AI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Wrote the Pyomo LP formulation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Built GSOO extractors &amp; demand builders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Coded the 27-scenario batch solver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Built the Dash dashboard &amp; network map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Swapped CBC → HiGHS for speed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Set up regeneration &amp; git hygiene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Wrote the technical documentation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394960" cy="457200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394960" cy="548640"/>
          </a:xfrm>
          <a:prstGeom prst="rect">
            <a:avLst/>
          </a:prstGeom>
          <a:solidFill>
            <a:srgbClr val="EF8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 stayed in control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Which forecast is authoritative (GSOO)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Market structure &amp; regional definitions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Sanity-checking every result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Catching domain errors (Yarwun reclass)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Scenario design &amp; the questions asked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—  </a:t>
            </a:r>
            <a:r>
              <a:rPr sz="1500">
                <a:solidFill>
                  <a:srgbClr val="1F2A37"/>
                </a:solidFill>
                <a:latin typeface="Calibri"/>
              </a:rPr>
              <a:t>What to trust and what to 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KEY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Demand diverges across the AEMO futures</a:t>
            </a:r>
          </a:p>
        </p:txBody>
      </p:sp>
      <p:pic>
        <p:nvPicPr>
          <p:cNvPr id="6" name="Picture 5" descr="c3_aemo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589520" cy="41392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320" y="1645920"/>
            <a:ext cx="3429000" cy="4572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828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The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3172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All three futures ease SE gas demand as electrification bites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Accelerated backs gas out fastest; Slower Growth holds it up longest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The spread is the planning risk — the same network must serve all three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Sets the demand backdrop for every price &amp; build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KEY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Lower SE winter demand shaves the price spike</a:t>
            </a:r>
          </a:p>
        </p:txBody>
      </p:sp>
      <p:pic>
        <p:nvPicPr>
          <p:cNvPr id="6" name="Picture 5" descr="c2_dail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589520" cy="41421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320" y="1645920"/>
            <a:ext cx="3429000" cy="4572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828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The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3172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Under Step Change, SE winter days spike toward $19/GJ (2035)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A Low winter-demand outlook flattens those peaks to ~$7/GJ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Impact concentrates in winter — off-peak days are unchanged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Winter demand, not annual demand, drives SE price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KEY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Winter demand is the dominant early-2030s price driver</a:t>
            </a:r>
          </a:p>
        </p:txBody>
      </p:sp>
      <p:pic>
        <p:nvPicPr>
          <p:cNvPr id="6" name="Picture 5" descr="c1_se_winter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589520" cy="41421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320" y="1645920"/>
            <a:ext cx="3429000" cy="4572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828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B9AAA"/>
                </a:solidFill>
                <a:latin typeface="Calibri"/>
              </a:rPr>
              <a:t>Reading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3172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A High winter outlook drives extreme SE prices while supply is tight (to ~$145/GJ)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Prices converge from the late-2030s as new infrastructure arrives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Low vs Medium track closely — the tail risk sits in the High case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—  </a:t>
            </a:r>
            <a:r>
              <a:rPr sz="1400">
                <a:solidFill>
                  <a:srgbClr val="1F2A37"/>
                </a:solidFill>
                <a:latin typeface="Calibri"/>
              </a:rPr>
              <a:t>Shows where scarcity, not cost, sets the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KEY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Winter High forces new infrastructure</a:t>
            </a:r>
          </a:p>
        </p:txBody>
      </p:sp>
      <p:pic>
        <p:nvPicPr>
          <p:cNvPr id="6" name="Picture 5" descr="c5_winterhigh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5068749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9440" y="1554480"/>
            <a:ext cx="4892040" cy="1874519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554480"/>
            <a:ext cx="91440" cy="1874519"/>
          </a:xfrm>
          <a:prstGeom prst="rect">
            <a:avLst/>
          </a:prstGeom>
          <a:solidFill>
            <a:srgbClr val="EF8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691640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EF8354"/>
                </a:solidFill>
                <a:latin typeface="Calibri"/>
              </a:rPr>
              <a:t>The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148840"/>
            <a:ext cx="4480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0">
                <a:solidFill>
                  <a:srgbClr val="1F2A37"/>
                </a:solidFill>
                <a:latin typeface="Calibri"/>
              </a:rPr>
              <a:t>Winter High — the coldest-winter case: gas-power and heating load in the south-east spike hardest on winter days, on top of the Step Change demand future.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3611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B2A4A"/>
                </a:solidFill>
                <a:latin typeface="Calibri"/>
              </a:rPr>
              <a:t>What GARY builds that the Low case never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41148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D7263D"/>
                </a:solidFill>
                <a:latin typeface="Calibri"/>
              </a:rPr>
              <a:t>—  </a:t>
            </a:r>
            <a:r>
              <a:rPr sz="1350" b="1">
                <a:solidFill>
                  <a:srgbClr val="1F2A37"/>
                </a:solidFill>
                <a:latin typeface="Calibri"/>
              </a:rPr>
              <a:t>New Port Kembla LNG import terminal:  </a:t>
            </a:r>
            <a:r>
              <a:rPr sz="1350">
                <a:solidFill>
                  <a:srgbClr val="1F2A37"/>
                </a:solidFill>
                <a:latin typeface="Calibri"/>
              </a:rPr>
              <a:t>500 TJ/d, $250M, online 2028 — imported gas to cover the southern winter peak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D7263D"/>
                </a:solidFill>
                <a:latin typeface="Calibri"/>
              </a:rPr>
              <a:t>—  </a:t>
            </a:r>
            <a:r>
              <a:rPr sz="1350" b="1">
                <a:solidFill>
                  <a:srgbClr val="1F2A37"/>
                </a:solidFill>
                <a:latin typeface="Calibri"/>
              </a:rPr>
              <a:t>MSP expansion brought forward:  </a:t>
            </a:r>
            <a:r>
              <a:rPr sz="1350">
                <a:solidFill>
                  <a:srgbClr val="1F2A37"/>
                </a:solidFill>
                <a:latin typeface="Calibri"/>
              </a:rPr>
              <a:t>+200 TJ/d on Moomba–Sydney, pulled from 2035 to 2025 to move gas south faster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00200"/>
            <a:ext cx="146304" cy="91440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 working market model,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3852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C9D9E6"/>
                </a:solidFill>
                <a:latin typeface="Calibri"/>
              </a:rPr>
              <a:t>A full nodal LP of the Eastern gas market — 27 scenarios to 2050 — stood up conversationally.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770632"/>
            <a:ext cx="146304" cy="91440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2491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AI did the engineering, I owned the judgement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C9D9E6"/>
                </a:solidFill>
                <a:latin typeface="Calibri"/>
              </a:rPr>
              <a:t>Domain expertise steered every decision; the AI wrote and wired the code and kept it reproducible.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41064"/>
            <a:ext cx="146304" cy="91440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9534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Grounded in AEMO's GSOO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7939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C9D9E6"/>
                </a:solidFill>
                <a:latin typeface="Calibri"/>
              </a:rPr>
              <a:t>Anchored to the official forecast; one button rebuilds every input and re-solves every case.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111496"/>
            <a:ext cx="146304" cy="91440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6577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Decision-useful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49824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C9D9E6"/>
                </a:solidFill>
                <a:latin typeface="Calibri"/>
              </a:rPr>
              <a:t>Lower SE winter demand shaves the price spike; a High winter forces a new Port Kembla terminal — findings you can act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00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9AAA"/>
                </a:solidFill>
                <a:latin typeface="Calibri"/>
              </a:rPr>
              <a:t>GARY  ·  Gas Allocation and Regional Yield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